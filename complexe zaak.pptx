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754AB-A159-422C-9990-07822F571DD6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C23E7-374E-4294-97E0-C230EEB51D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544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C23E7-374E-4294-97E0-C230EEB51D35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258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68E8-741A-F13D-A9EA-8BECF3FF8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A7F59-9712-416B-8498-40F1C89F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C006-DD4C-C616-4E7A-827F20D2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263D-C9C3-9831-B9CE-46FD2594C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6A18C-4590-A014-F2C6-994E4B15A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301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0D90-991D-022C-57D5-9E336EB8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CFD30-CD75-90DB-B9CB-26DE4B4E1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944CF-8C80-4724-EF2A-AF22F9FF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5ED7-4F99-0C74-EE2F-0B5CBD79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09CEC-C7B8-02E6-D5D6-373667B9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54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4297-0734-F791-EE4B-8F6CC057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B57EA-1725-9FD1-4616-93E288022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86669-F9FD-2217-BD28-DF163874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12528-9CAA-2208-F1FA-140AB1BD8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7D057-C2D8-68B0-4F7F-E0A74266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903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ABC2-332B-AB05-F7D1-972B886C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C85D-57BC-BB13-E725-7ABE170A9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B6017-2EC3-E674-95D4-1A1819D45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E2576-C160-4916-C357-54EF5A78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F758A-DEF7-08A6-13C0-CEF51B50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4BE2-83CB-4C9A-6CE2-5195D45B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591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86E5-021A-8D5F-FE9D-D2925F51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739E0-9B67-54F4-B442-A84069347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2EC80-D430-D315-639E-EED852E72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E4EAC-CA5E-2DAF-7CEA-4B97BA8E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94585E-57CD-7DA2-D1C4-F6941258C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E58DE-3C0E-026E-3AF9-6C8B7958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1EDEB-E9DC-36C3-1B85-EE1D1F34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904FB-2A97-920D-3104-B5558383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826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FBC8-BA18-9CF1-A5E4-B4BD8F12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3A138-F2FF-5892-7381-2048C9EC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0E18C-EB56-5AEA-C43F-DEDC0646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7D670-F1BF-9D39-6D63-1BE9ECB9C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647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0479E-48EA-8EFE-74A0-42382187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6CB06-4797-EB54-8E48-501B166D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BD684-4612-6B58-6164-13CC7377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261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C9CA-949B-DDB3-EEC3-C92158B7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94FA-2F67-1E73-7458-E222E6DC9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1765B-6438-A099-C36C-BC99D10BB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0B1ED-2415-BEBC-0D58-F5B46453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4B5BE-F6F0-90A7-9DD8-7770616B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D8383-1B42-5CD1-014C-AC5E91F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76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DE25-2D41-7348-A6C7-F5024E2F7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AB072-D1CE-3FD9-9291-4A0FFAF73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CDA3A-2D50-B15F-7CC7-C8A84A41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BC366-F559-5BAB-AB1E-6B1FD7BEF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9AA43-806C-F190-7D31-CDA07551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CC079-E05D-3546-E94A-119097CA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409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9479-6A24-1C88-1C14-C5091D8D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BE360-3129-0A4A-EAD5-5906E9358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AAF21-929B-AB79-D13B-0CDFE5235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7403-E602-0558-0CA2-36E6E0A5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B33F9-6FA5-232B-0270-194A6F8A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0936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330D0-FE1D-3566-6906-7ED619E19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D165-7325-166E-ED61-CCF9499BF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54DE1-DB11-E791-5E1F-7389C56E2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36E4-EC40-16A2-2875-CADA827C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08E76-6F57-3C23-72ED-CBEA3EB2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12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1DC1A-FC49-9233-6066-5EA05AA4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03075-B231-43E6-7618-7BE41AE91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9525-DA63-0C68-C091-D27021E8F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6C1AF-8EBE-44AE-93C6-0CF2CE08CC8E}" type="datetimeFigureOut">
              <a:rPr lang="nl-NL" smtClean="0"/>
              <a:t>3-5-2026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23D6-B510-43E5-36C1-47A516081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16B13-6B61-1A36-3A61-299DAD71B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1F8C3-809C-40D5-AC1F-7467FD5F58B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379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delft.nl/teaching-suppor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35001-7517-4D5C-1DAB-57F1CB5D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Onderwijs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3FD7C2-051A-76F2-06E3-15C4241F7CB5}"/>
              </a:ext>
            </a:extLst>
          </p:cNvPr>
          <p:cNvSpPr txBox="1"/>
          <p:nvPr/>
        </p:nvSpPr>
        <p:spPr>
          <a:xfrm>
            <a:off x="2245360" y="282448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TLS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0E625-7EC6-A5AB-5065-38C6C84CCB7E}"/>
              </a:ext>
            </a:extLst>
          </p:cNvPr>
          <p:cNvSpPr txBox="1"/>
          <p:nvPr/>
        </p:nvSpPr>
        <p:spPr>
          <a:xfrm>
            <a:off x="7284720" y="202184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SEEd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C367A-12A2-D4F3-379C-3B335911CD2F}"/>
              </a:ext>
            </a:extLst>
          </p:cNvPr>
          <p:cNvSpPr txBox="1"/>
          <p:nvPr/>
        </p:nvSpPr>
        <p:spPr>
          <a:xfrm>
            <a:off x="4023360" y="3931920"/>
            <a:ext cx="24219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BKO</a:t>
            </a:r>
          </a:p>
          <a:p>
            <a:r>
              <a:rPr lang="en-US" dirty="0"/>
              <a:t>SKO</a:t>
            </a:r>
          </a:p>
          <a:p>
            <a:r>
              <a:rPr lang="en-US" dirty="0"/>
              <a:t>SKE</a:t>
            </a:r>
          </a:p>
          <a:p>
            <a:r>
              <a:rPr lang="en-US" dirty="0"/>
              <a:t>CPD</a:t>
            </a:r>
          </a:p>
          <a:p>
            <a:r>
              <a:rPr lang="en-US" dirty="0" err="1"/>
              <a:t>Didactische</a:t>
            </a:r>
            <a:r>
              <a:rPr lang="en-US" dirty="0"/>
              <a:t> </a:t>
            </a:r>
            <a:r>
              <a:rPr lang="en-US" dirty="0" err="1"/>
              <a:t>trainingen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49F1-0480-A84C-F92E-E73CC239A30A}"/>
              </a:ext>
            </a:extLst>
          </p:cNvPr>
          <p:cNvSpPr txBox="1"/>
          <p:nvPr/>
        </p:nvSpPr>
        <p:spPr>
          <a:xfrm>
            <a:off x="8839200" y="2828835"/>
            <a:ext cx="29114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Junior </a:t>
            </a:r>
            <a:r>
              <a:rPr lang="en-US" dirty="0" err="1"/>
              <a:t>docenten</a:t>
            </a:r>
            <a:endParaRPr lang="en-US" dirty="0"/>
          </a:p>
          <a:p>
            <a:r>
              <a:rPr lang="en-US" dirty="0" err="1"/>
              <a:t>Lerarenopleiding</a:t>
            </a:r>
            <a:endParaRPr lang="en-US" dirty="0"/>
          </a:p>
          <a:p>
            <a:r>
              <a:rPr lang="en-US" dirty="0"/>
              <a:t>5e </a:t>
            </a:r>
            <a:r>
              <a:rPr lang="en-US" dirty="0" err="1"/>
              <a:t>kwartaal</a:t>
            </a:r>
            <a:r>
              <a:rPr lang="en-US" dirty="0"/>
              <a:t> </a:t>
            </a:r>
            <a:r>
              <a:rPr lang="en-US" dirty="0" err="1"/>
              <a:t>vak</a:t>
            </a:r>
            <a:r>
              <a:rPr lang="en-US" dirty="0"/>
              <a:t> – TA</a:t>
            </a:r>
          </a:p>
          <a:p>
            <a:r>
              <a:rPr lang="en-US" dirty="0"/>
              <a:t>CPD (maar </a:t>
            </a:r>
            <a:r>
              <a:rPr lang="en-US" dirty="0" err="1"/>
              <a:t>onder</a:t>
            </a:r>
            <a:r>
              <a:rPr lang="en-US" dirty="0"/>
              <a:t> outreach)</a:t>
            </a:r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26C4E-2D65-EEE0-DD05-2D19DDCB2BD7}"/>
              </a:ext>
            </a:extLst>
          </p:cNvPr>
          <p:cNvSpPr txBox="1"/>
          <p:nvPr/>
        </p:nvSpPr>
        <p:spPr>
          <a:xfrm>
            <a:off x="6959600" y="5100320"/>
            <a:ext cx="270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ITAV</a:t>
            </a:r>
          </a:p>
          <a:p>
            <a:r>
              <a:rPr lang="en-US" dirty="0" err="1"/>
              <a:t>Didactische</a:t>
            </a:r>
            <a:r>
              <a:rPr lang="en-US" dirty="0"/>
              <a:t> </a:t>
            </a:r>
            <a:r>
              <a:rPr lang="en-US" dirty="0" err="1"/>
              <a:t>trainingen</a:t>
            </a:r>
            <a:r>
              <a:rPr lang="en-US" dirty="0"/>
              <a:t> TA</a:t>
            </a:r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2128F-9A3E-8B6D-9AAC-ED3C470CD2F1}"/>
              </a:ext>
            </a:extLst>
          </p:cNvPr>
          <p:cNvSpPr txBox="1"/>
          <p:nvPr/>
        </p:nvSpPr>
        <p:spPr>
          <a:xfrm>
            <a:off x="3397305" y="1652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Centre </a:t>
            </a:r>
            <a:r>
              <a:rPr lang="nl-NL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for</a:t>
            </a:r>
            <a:r>
              <a:rPr lang="nl-NL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Teaching &amp; Learning (CTL)</a:t>
            </a:r>
            <a:endParaRPr lang="nl-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0AA5E-25F4-131A-596C-7DB4C2B146D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>
                <a:hlinkClick r:id="rId3"/>
              </a:rPr>
              <a:t>Teaching Support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25CBC-D156-EAD9-29CA-16C7A7AB8329}"/>
              </a:ext>
            </a:extLst>
          </p:cNvPr>
          <p:cNvSpPr txBox="1"/>
          <p:nvPr/>
        </p:nvSpPr>
        <p:spPr>
          <a:xfrm>
            <a:off x="8107680" y="11684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MOOCs</a:t>
            </a:r>
            <a:endParaRPr lang="nl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EB88A0-AFF8-DD5A-A5C7-7806F23CB18A}"/>
              </a:ext>
            </a:extLst>
          </p:cNvPr>
          <p:cNvSpPr txBox="1"/>
          <p:nvPr/>
        </p:nvSpPr>
        <p:spPr>
          <a:xfrm>
            <a:off x="5171440" y="497840"/>
            <a:ext cx="1877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Extension school</a:t>
            </a:r>
          </a:p>
          <a:p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300F44-BA6D-6024-C0A4-02D266B9B675}"/>
              </a:ext>
            </a:extLst>
          </p:cNvPr>
          <p:cNvSpPr txBox="1"/>
          <p:nvPr/>
        </p:nvSpPr>
        <p:spPr>
          <a:xfrm>
            <a:off x="1442720" y="55428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 i="0" dirty="0">
                <a:solidFill>
                  <a:srgbClr val="475467"/>
                </a:solidFill>
                <a:effectLst/>
                <a:latin typeface="Montserrat" panose="00000500000000000000" pitchFamily="2" charset="0"/>
              </a:rPr>
              <a:t>Learning </a:t>
            </a:r>
            <a:r>
              <a:rPr lang="nl-NL" b="0" i="0" dirty="0" err="1">
                <a:solidFill>
                  <a:srgbClr val="475467"/>
                </a:solidFill>
                <a:effectLst/>
                <a:latin typeface="Montserrat" panose="00000500000000000000" pitchFamily="2" charset="0"/>
              </a:rPr>
              <a:t>for</a:t>
            </a:r>
            <a:r>
              <a:rPr lang="nl-NL" b="0" i="0" dirty="0">
                <a:solidFill>
                  <a:srgbClr val="475467"/>
                </a:solidFill>
                <a:effectLst/>
                <a:latin typeface="Montserrat" panose="00000500000000000000" pitchFamily="2" charset="0"/>
              </a:rPr>
              <a:t> Life Centre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17002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F087-5891-7725-87F8-86EC0B2E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Outreach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B1F67-40C3-1C29-C22E-B4AED885FF5C}"/>
              </a:ext>
            </a:extLst>
          </p:cNvPr>
          <p:cNvSpPr txBox="1"/>
          <p:nvPr/>
        </p:nvSpPr>
        <p:spPr>
          <a:xfrm>
            <a:off x="2245360" y="282448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TLS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D3DAA-473A-0343-6037-8DD94673DAB6}"/>
              </a:ext>
            </a:extLst>
          </p:cNvPr>
          <p:cNvSpPr txBox="1"/>
          <p:nvPr/>
        </p:nvSpPr>
        <p:spPr>
          <a:xfrm>
            <a:off x="7284720" y="202184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SEEd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88618-A979-286D-8174-32B276247A81}"/>
              </a:ext>
            </a:extLst>
          </p:cNvPr>
          <p:cNvSpPr txBox="1"/>
          <p:nvPr/>
        </p:nvSpPr>
        <p:spPr>
          <a:xfrm>
            <a:off x="5516880" y="5100320"/>
            <a:ext cx="1672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Science center</a:t>
            </a:r>
          </a:p>
          <a:p>
            <a:endParaRPr lang="nl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74E44-2E17-88CE-2EC9-FD366184AA49}"/>
              </a:ext>
            </a:extLst>
          </p:cNvPr>
          <p:cNvSpPr txBox="1"/>
          <p:nvPr/>
        </p:nvSpPr>
        <p:spPr>
          <a:xfrm>
            <a:off x="3048000" y="324433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Teaching Support</a:t>
            </a:r>
          </a:p>
          <a:p>
            <a:r>
              <a:rPr lang="nl-NL" dirty="0"/>
              <a:t>Training &amp; </a:t>
            </a:r>
            <a:r>
              <a:rPr lang="nl-NL" dirty="0" err="1"/>
              <a:t>Professionalisation</a:t>
            </a:r>
            <a:endParaRPr lang="nl-NL" dirty="0"/>
          </a:p>
          <a:p>
            <a:r>
              <a:rPr lang="nl-NL" dirty="0" err="1"/>
              <a:t>Blended</a:t>
            </a:r>
            <a:r>
              <a:rPr lang="nl-NL" dirty="0"/>
              <a:t> Learning </a:t>
            </a:r>
            <a:r>
              <a:rPr lang="nl-NL" dirty="0" err="1"/>
              <a:t>Advisors</a:t>
            </a:r>
            <a:endParaRPr lang="nl-NL" dirty="0"/>
          </a:p>
          <a:p>
            <a:r>
              <a:rPr lang="nl-NL" dirty="0" err="1"/>
              <a:t>Innovation</a:t>
            </a:r>
            <a:r>
              <a:rPr lang="nl-NL" dirty="0"/>
              <a:t>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8748D-BAE1-3CE3-C416-225F059E80BD}"/>
              </a:ext>
            </a:extLst>
          </p:cNvPr>
          <p:cNvSpPr txBox="1"/>
          <p:nvPr/>
        </p:nvSpPr>
        <p:spPr>
          <a:xfrm>
            <a:off x="6096000" y="853440"/>
            <a:ext cx="806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091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76B4-D865-4473-E837-C4EC6E73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Onderzoek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EAA4D-35A2-72D4-9D03-92AE7118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TA: IDEE</a:t>
            </a:r>
          </a:p>
          <a:p>
            <a:r>
              <a:rPr lang="en-US" dirty="0"/>
              <a:t>TUD: </a:t>
            </a:r>
            <a:r>
              <a:rPr lang="en-US" dirty="0" err="1"/>
              <a:t>losse</a:t>
            </a:r>
            <a:r>
              <a:rPr lang="en-US" dirty="0"/>
              <a:t> </a:t>
            </a:r>
            <a:r>
              <a:rPr lang="en-US" dirty="0" err="1"/>
              <a:t>projecten</a:t>
            </a:r>
            <a:endParaRPr lang="en-US" dirty="0"/>
          </a:p>
          <a:p>
            <a:r>
              <a:rPr lang="en-US" dirty="0" err="1"/>
              <a:t>SEEd</a:t>
            </a:r>
            <a:r>
              <a:rPr lang="en-US" dirty="0"/>
              <a:t>: </a:t>
            </a:r>
            <a:r>
              <a:rPr lang="en-US" dirty="0" err="1"/>
              <a:t>gericht</a:t>
            </a:r>
            <a:r>
              <a:rPr lang="en-US" dirty="0"/>
              <a:t> </a:t>
            </a:r>
          </a:p>
          <a:p>
            <a:r>
              <a:rPr lang="en-US" dirty="0"/>
              <a:t>Marcus Specht: director </a:t>
            </a:r>
            <a:r>
              <a:rPr lang="en-US" b="1" dirty="0"/>
              <a:t>Leiden-Delft-Erasmus Centre for Education and Learning (CEL)</a:t>
            </a:r>
            <a:endParaRPr lang="en-US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1254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85</Words>
  <Application>Microsoft Office PowerPoint</Application>
  <PresentationFormat>Widescreen</PresentationFormat>
  <Paragraphs>34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Onderwijs</vt:lpstr>
      <vt:lpstr>Outreach</vt:lpstr>
      <vt:lpstr>Onderzoek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Freek Pols</dc:creator>
  <cp:lastModifiedBy>Freek Pols</cp:lastModifiedBy>
  <cp:revision>1</cp:revision>
  <dcterms:created xsi:type="dcterms:W3CDTF">2026-05-03T06:57:17Z</dcterms:created>
  <dcterms:modified xsi:type="dcterms:W3CDTF">2026-05-03T07:23:56Z</dcterms:modified>
</cp:coreProperties>
</file>